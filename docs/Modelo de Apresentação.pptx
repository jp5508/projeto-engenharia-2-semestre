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768EA2-C9BC-9F1F-261C-A37FF3693ED1}" v="2" dt="2026-08-22T11:26:26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ROCHA MONTEIRO" userId="S::renan.rmonteiro@senacsp.edu.br::8a8990a5-0be1-4bd2-b8f5-62ebd522dbf6" providerId="AD" clId="Web-{B3768EA2-C9BC-9F1F-261C-A37FF3693ED1}"/>
    <pc:docChg chg="modSld">
      <pc:chgData name="RENAN ROCHA MONTEIRO" userId="S::renan.rmonteiro@senacsp.edu.br::8a8990a5-0be1-4bd2-b8f5-62ebd522dbf6" providerId="AD" clId="Web-{B3768EA2-C9BC-9F1F-261C-A37FF3693ED1}" dt="2026-08-22T11:26:26.636" v="1" actId="20577"/>
      <pc:docMkLst>
        <pc:docMk/>
      </pc:docMkLst>
      <pc:sldChg chg="modSp">
        <pc:chgData name="RENAN ROCHA MONTEIRO" userId="S::renan.rmonteiro@senacsp.edu.br::8a8990a5-0be1-4bd2-b8f5-62ebd522dbf6" providerId="AD" clId="Web-{B3768EA2-C9BC-9F1F-261C-A37FF3693ED1}" dt="2026-08-22T11:26:26.636" v="1" actId="20577"/>
        <pc:sldMkLst>
          <pc:docMk/>
          <pc:sldMk cId="0" sldId="256"/>
        </pc:sldMkLst>
        <pc:spChg chg="mod">
          <ac:chgData name="RENAN ROCHA MONTEIRO" userId="S::renan.rmonteiro@senacsp.edu.br::8a8990a5-0be1-4bd2-b8f5-62ebd522dbf6" providerId="AD" clId="Web-{B3768EA2-C9BC-9F1F-261C-A37FF3693ED1}" dt="2026-08-22T11:26:26.636" v="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9A968-AA9F-4499-8A15-175F75A47B31}" type="datetimeFigureOut"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25AEB-A9F4-4BC0-A353-8ED637906224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773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C3A57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1C3A5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3" y="110825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ROBÔ DESVIADOR DE OBSTÁCULOS</a:t>
            </a:r>
            <a:endParaRPr lang="en-US" sz="400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Projeto de Robótica Educacional com Arduino</a:t>
            </a:r>
            <a:endParaRPr lang="en-US" sz="220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passo a passo do projeto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731520" y="56692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Início: 15/08/2026  •  Reunião de abertura (kickoff)
</a:t>
            </a:r>
            <a:r>
              <a:rPr lang="en-US" sz="14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05/12/2026  •  Competição de Robôs Desviadores de Obstáculos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Técnico do Robô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0F4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254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obstáculos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1828800" y="2423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ultrassônico (com servomotor opcional) e infravermelhos.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0F4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22549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Deslocar-se com autonomia</a:t>
            </a:r>
            <a:endParaRPr lang="en-US" sz="1600"/>
          </a:p>
        </p:txBody>
      </p:sp>
      <p:sp>
        <p:nvSpPr>
          <p:cNvPr id="13" name="Text 9"/>
          <p:cNvSpPr/>
          <p:nvPr/>
        </p:nvSpPr>
        <p:spPr>
          <a:xfrm>
            <a:off x="7498080" y="2423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controlada por dois motores DC com redução.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0F4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44494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 a direção de desvio</a:t>
            </a:r>
            <a:endParaRPr lang="en-US" sz="1600"/>
          </a:p>
        </p:txBody>
      </p:sp>
      <p:sp>
        <p:nvSpPr>
          <p:cNvPr id="18" name="Text 13"/>
          <p:cNvSpPr/>
          <p:nvPr/>
        </p:nvSpPr>
        <p:spPr>
          <a:xfrm>
            <a:off x="1828800" y="4617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embarcada escolhe automaticamente por onde contornar.</a:t>
            </a:r>
            <a:endParaRPr lang="en-US" sz="120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0F4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9750" y="444947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 colisões</a:t>
            </a:r>
            <a:endParaRPr lang="en-US" sz="1600"/>
          </a:p>
        </p:txBody>
      </p:sp>
      <p:sp>
        <p:nvSpPr>
          <p:cNvPr id="23" name="Text 17"/>
          <p:cNvSpPr/>
          <p:nvPr/>
        </p:nvSpPr>
        <p:spPr>
          <a:xfrm>
            <a:off x="7498080" y="4617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o trajeto completo sem intervenção humana.</a:t>
            </a:r>
            <a:endParaRPr lang="en-US" sz="1200"/>
          </a:p>
        </p:txBody>
      </p:sp>
      <p:sp>
        <p:nvSpPr>
          <p:cNvPr id="24" name="Text 1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25" name="Text 19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Robô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AF3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MECÂNICA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28016" cy="128016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50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 em MDF ou acrílico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prévio em papel cartão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128016" cy="128016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18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Rodas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Acopladas ao conjunto do motor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128016" cy="128016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087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Amarelo, azul ou micromotor c/ redução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128016" cy="128016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56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do servo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1097280" y="5257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 o servomotor e o sensor giratório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AF0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ELETRÔNICA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6492240" y="2468880"/>
            <a:ext cx="128016" cy="128016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350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6766560" y="2651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central do robô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6492240" y="3337560"/>
            <a:ext cx="128016" cy="128016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3218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H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6766560" y="3520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 alimentação dos motores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6492240" y="4206240"/>
            <a:ext cx="128016" cy="128016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087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+ servomotor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6766560" y="4389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Ultrassônico HC-SR04 (com varredura opcional) + IV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6492240" y="5074920"/>
            <a:ext cx="128016" cy="128016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956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6766560" y="5257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Pilhas 18650 c/ suporte e interruptor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MATERIAIS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(BOM)</a:t>
            </a:r>
            <a:endParaRPr lang="en-US" sz="30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315200" cy="362102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Especificação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Qtde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Placa controladora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Arduino Uno R3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Sensor de distância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Ultrassônico HC-SR04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Servomotor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SG90 ou MG90S (opcional)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Sensor de obstáculo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Infravermelho (IV)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2+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Driver de motores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Ponte H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Motores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Amarelo/azul/micromotor c/ redução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Alimentação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Suporte 18650 c/ interruptor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Estrutura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Chassi em MDF ou acrílico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8229600" y="173736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EAF3F4"/>
          </a:solidFill>
          <a:ln/>
        </p:spPr>
      </p:sp>
      <p:sp>
        <p:nvSpPr>
          <p:cNvPr id="6" name="Shape 3"/>
          <p:cNvSpPr/>
          <p:nvPr/>
        </p:nvSpPr>
        <p:spPr>
          <a:xfrm>
            <a:off x="8549640" y="1965960"/>
            <a:ext cx="731520" cy="7315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205" y="2141525"/>
            <a:ext cx="380390" cy="3803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Ponte H</a:t>
            </a:r>
            <a:endParaRPr lang="en-US" sz="1400"/>
          </a:p>
        </p:txBody>
      </p:sp>
      <p:sp>
        <p:nvSpPr>
          <p:cNvPr id="9" name="Text 5"/>
          <p:cNvSpPr/>
          <p:nvPr/>
        </p:nvSpPr>
        <p:spPr>
          <a:xfrm>
            <a:off x="850392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o sentido e a velocidade dos motores e também intermedia a alimentação vinda das pilhas.</a:t>
            </a:r>
            <a:endParaRPr lang="en-US" sz="1100"/>
          </a:p>
        </p:txBody>
      </p:sp>
      <p:sp>
        <p:nvSpPr>
          <p:cNvPr id="10" name="Text 6"/>
          <p:cNvSpPr/>
          <p:nvPr/>
        </p:nvSpPr>
        <p:spPr>
          <a:xfrm>
            <a:off x="8503920" y="4297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Servomotor (opcional)</a:t>
            </a:r>
            <a:endParaRPr lang="en-US" sz="140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o sensor ultrassônico para ampliar o campo de varredura. Pode ser desativado no código, mantendo o sensor fixo.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13" name="Text 9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 Fases do Projeto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10725912" cy="0"/>
          </a:xfrm>
          <a:prstGeom prst="line">
            <a:avLst/>
          </a:prstGeom>
          <a:noFill/>
          <a:ln w="38100">
            <a:solidFill>
              <a:srgbClr val="3E5A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8288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</a:t>
            </a:r>
            <a:endParaRPr lang="en-US" sz="870"/>
          </a:p>
        </p:txBody>
      </p:sp>
      <p:sp>
        <p:nvSpPr>
          <p:cNvPr id="8" name="Shape 6"/>
          <p:cNvSpPr/>
          <p:nvPr/>
        </p:nvSpPr>
        <p:spPr>
          <a:xfrm>
            <a:off x="1804416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6088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1210056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e</a:t>
            </a:r>
            <a:endParaRPr lang="en-US" sz="870"/>
          </a:p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870"/>
          </a:p>
        </p:txBody>
      </p:sp>
      <p:sp>
        <p:nvSpPr>
          <p:cNvPr id="11" name="Shape 9"/>
          <p:cNvSpPr/>
          <p:nvPr/>
        </p:nvSpPr>
        <p:spPr>
          <a:xfrm>
            <a:off x="2996184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7856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2401824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</a:t>
            </a:r>
            <a:endParaRPr lang="en-US" sz="870"/>
          </a:p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</a:t>
            </a:r>
            <a:endParaRPr lang="en-US" sz="870"/>
          </a:p>
        </p:txBody>
      </p:sp>
      <p:sp>
        <p:nvSpPr>
          <p:cNvPr id="14" name="Shape 12"/>
          <p:cNvSpPr/>
          <p:nvPr/>
        </p:nvSpPr>
        <p:spPr>
          <a:xfrm>
            <a:off x="4187952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593592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Aquisições</a:t>
            </a:r>
            <a:endParaRPr lang="en-US" sz="870"/>
          </a:p>
        </p:txBody>
      </p:sp>
      <p:sp>
        <p:nvSpPr>
          <p:cNvPr id="17" name="Shape 15"/>
          <p:cNvSpPr/>
          <p:nvPr/>
        </p:nvSpPr>
        <p:spPr>
          <a:xfrm>
            <a:off x="5379720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1392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785360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Fabricação</a:t>
            </a:r>
            <a:endParaRPr lang="en-US" sz="870"/>
          </a:p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montagem</a:t>
            </a:r>
            <a:endParaRPr lang="en-US" sz="870"/>
          </a:p>
        </p:txBody>
      </p:sp>
      <p:sp>
        <p:nvSpPr>
          <p:cNvPr id="20" name="Shape 18"/>
          <p:cNvSpPr/>
          <p:nvPr/>
        </p:nvSpPr>
        <p:spPr>
          <a:xfrm>
            <a:off x="6571488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316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977128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870"/>
          </a:p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870"/>
          </a:p>
        </p:txBody>
      </p:sp>
      <p:sp>
        <p:nvSpPr>
          <p:cNvPr id="23" name="Shape 21"/>
          <p:cNvSpPr/>
          <p:nvPr/>
        </p:nvSpPr>
        <p:spPr>
          <a:xfrm>
            <a:off x="7763256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68896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870"/>
          </a:p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autônoma</a:t>
            </a:r>
            <a:endParaRPr lang="en-US" sz="870"/>
          </a:p>
        </p:txBody>
      </p:sp>
      <p:sp>
        <p:nvSpPr>
          <p:cNvPr id="26" name="Shape 24"/>
          <p:cNvSpPr/>
          <p:nvPr/>
        </p:nvSpPr>
        <p:spPr>
          <a:xfrm>
            <a:off x="8955024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16696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8360664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</a:t>
            </a:r>
            <a:endParaRPr lang="en-US" sz="870"/>
          </a:p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870"/>
          </a:p>
        </p:txBody>
      </p:sp>
      <p:sp>
        <p:nvSpPr>
          <p:cNvPr id="29" name="Shape 27"/>
          <p:cNvSpPr/>
          <p:nvPr/>
        </p:nvSpPr>
        <p:spPr>
          <a:xfrm>
            <a:off x="10146792" y="3447288"/>
            <a:ext cx="237744" cy="237744"/>
          </a:xfrm>
          <a:prstGeom prst="ellipse">
            <a:avLst/>
          </a:prstGeom>
          <a:solidFill>
            <a:srgbClr val="D9A441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08464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9552432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da</a:t>
            </a:r>
            <a:endParaRPr lang="en-US" sz="870"/>
          </a:p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</a:t>
            </a:r>
            <a:endParaRPr lang="en-US" sz="870"/>
          </a:p>
        </p:txBody>
      </p:sp>
      <p:sp>
        <p:nvSpPr>
          <p:cNvPr id="32" name="Shape 30"/>
          <p:cNvSpPr/>
          <p:nvPr/>
        </p:nvSpPr>
        <p:spPr>
          <a:xfrm>
            <a:off x="11338560" y="3447288"/>
            <a:ext cx="237744" cy="237744"/>
          </a:xfrm>
          <a:prstGeom prst="ellipse">
            <a:avLst/>
          </a:prstGeom>
          <a:solidFill>
            <a:srgbClr val="1E7C8C"/>
          </a:solidFill>
          <a:ln w="25400">
            <a:solidFill>
              <a:srgbClr val="1329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00232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10744200" y="37947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</a:t>
            </a:r>
            <a:endParaRPr lang="en-US" sz="870"/>
          </a:p>
        </p:txBody>
      </p:sp>
      <p:sp>
        <p:nvSpPr>
          <p:cNvPr id="35" name="Text 33"/>
          <p:cNvSpPr/>
          <p:nvPr/>
        </p:nvSpPr>
        <p:spPr>
          <a:xfrm>
            <a:off x="182880" y="4754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15/08/2026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10543032" y="4754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05/12/2026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1 E 2 · 15–28/08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e Especificação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77240" cy="77724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96961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abertura (kickoff)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1600200" y="2103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projeto, cronograma e expectativas — 15/08.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640080" y="2898648"/>
            <a:ext cx="777240" cy="777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3085186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8529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das equipes</a:t>
            </a:r>
            <a:endParaRPr lang="en-US" sz="1500"/>
          </a:p>
        </p:txBody>
      </p:sp>
      <p:sp>
        <p:nvSpPr>
          <p:cNvPr id="11" name="Text 7"/>
          <p:cNvSpPr/>
          <p:nvPr/>
        </p:nvSpPr>
        <p:spPr>
          <a:xfrm>
            <a:off x="1600200" y="32186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frentes: Mecânica, Eletrônica, Programação, Estratégia e Testes, e Gestão.</a:t>
            </a:r>
            <a:endParaRPr lang="en-US" sz="1150"/>
          </a:p>
        </p:txBody>
      </p:sp>
      <p:sp>
        <p:nvSpPr>
          <p:cNvPr id="12" name="Shape 8"/>
          <p:cNvSpPr/>
          <p:nvPr/>
        </p:nvSpPr>
        <p:spPr>
          <a:xfrm>
            <a:off x="640080" y="4014216"/>
            <a:ext cx="777240" cy="77724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4200754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9684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estudo</a:t>
            </a:r>
            <a:endParaRPr lang="en-US" sz="1500"/>
          </a:p>
        </p:txBody>
      </p:sp>
      <p:sp>
        <p:nvSpPr>
          <p:cNvPr id="15" name="Text 10"/>
          <p:cNvSpPr/>
          <p:nvPr/>
        </p:nvSpPr>
        <p:spPr>
          <a:xfrm>
            <a:off x="1600200" y="433425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desviadores de obstáculos, Arduino e sensores.</a:t>
            </a:r>
            <a:endParaRPr lang="en-US" sz="1150"/>
          </a:p>
        </p:txBody>
      </p:sp>
      <p:sp>
        <p:nvSpPr>
          <p:cNvPr id="16" name="Shape 11"/>
          <p:cNvSpPr/>
          <p:nvPr/>
        </p:nvSpPr>
        <p:spPr>
          <a:xfrm>
            <a:off x="640080" y="5129784"/>
            <a:ext cx="777240" cy="777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8" y="5316322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0840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BOM</a:t>
            </a:r>
            <a:endParaRPr lang="en-US" sz="1500"/>
          </a:p>
        </p:txBody>
      </p:sp>
      <p:sp>
        <p:nvSpPr>
          <p:cNvPr id="19" name="Text 13"/>
          <p:cNvSpPr/>
          <p:nvPr/>
        </p:nvSpPr>
        <p:spPr>
          <a:xfrm>
            <a:off x="1600200" y="544982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 e lista de materiais — entrega em 28/08.</a:t>
            </a:r>
            <a:endParaRPr lang="en-US" sz="1150"/>
          </a:p>
        </p:txBody>
      </p:sp>
      <p:sp>
        <p:nvSpPr>
          <p:cNvPr id="20" name="Shape 14"/>
          <p:cNvSpPr/>
          <p:nvPr/>
        </p:nvSpPr>
        <p:spPr>
          <a:xfrm>
            <a:off x="7223760" y="1783080"/>
            <a:ext cx="4389120" cy="4114800"/>
          </a:xfrm>
          <a:prstGeom prst="roundRect">
            <a:avLst>
              <a:gd name="adj" fmla="val 2222"/>
            </a:avLst>
          </a:prstGeom>
          <a:solidFill>
            <a:srgbClr val="EAF0F6"/>
          </a:solidFill>
          <a:ln/>
        </p:spPr>
      </p:sp>
      <p:sp>
        <p:nvSpPr>
          <p:cNvPr id="21" name="Text 15"/>
          <p:cNvSpPr/>
          <p:nvPr/>
        </p:nvSpPr>
        <p:spPr>
          <a:xfrm>
            <a:off x="749808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final da Etapa</a:t>
            </a:r>
            <a:endParaRPr lang="en-US" sz="1400"/>
          </a:p>
        </p:txBody>
      </p:sp>
      <p:sp>
        <p:nvSpPr>
          <p:cNvPr id="22" name="Text 16"/>
          <p:cNvSpPr/>
          <p:nvPr/>
        </p:nvSpPr>
        <p:spPr>
          <a:xfrm>
            <a:off x="7498080" y="2514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 aprovado, definindo o que o robô deve detectar, como deve se mover e quais restrições deve respeitar — base para todo o projeto do chassi e da eletrônica.</a:t>
            </a:r>
            <a:endParaRPr lang="en-US" sz="1200"/>
          </a:p>
        </p:txBody>
      </p:sp>
      <p:sp>
        <p:nvSpPr>
          <p:cNvPr id="23" name="Text 17"/>
          <p:cNvSpPr/>
          <p:nvPr/>
        </p:nvSpPr>
        <p:spPr>
          <a:xfrm>
            <a:off x="7498080" y="5120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G2 — 28/08: requisitos definidos</a:t>
            </a:r>
            <a:endParaRPr lang="en-US" sz="1100"/>
          </a:p>
        </p:txBody>
      </p:sp>
      <p:sp>
        <p:nvSpPr>
          <p:cNvPr id="24" name="Text 1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25" name="Text 19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24/08–12/09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Chassi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0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Croqui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conceitual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2514600" y="2103120"/>
            <a:ext cx="301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2816352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EAF3F4"/>
          </a:solidFill>
          <a:ln w="19050">
            <a:solidFill>
              <a:srgbClr val="1E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em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cartão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690872" y="2103120"/>
            <a:ext cx="301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4992624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0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ajustes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867144" y="2103120"/>
            <a:ext cx="301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7168896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0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8896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final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(MDF/acrílico)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9043416" y="2103120"/>
            <a:ext cx="301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9345168" y="21031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0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45168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do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servo/sensor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10881360" cy="2331720"/>
          </a:xfrm>
          <a:prstGeom prst="roundRect">
            <a:avLst>
              <a:gd name="adj" fmla="val 3922"/>
            </a:avLst>
          </a:prstGeom>
          <a:solidFill>
            <a:srgbClr val="EAF3F4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794760"/>
            <a:ext cx="822960" cy="82296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3992270"/>
            <a:ext cx="427939" cy="42793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965960" y="374904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começar pelo papel cartão?</a:t>
            </a:r>
            <a:endParaRPr lang="en-US" sz="1500"/>
          </a:p>
        </p:txBody>
      </p:sp>
      <p:sp>
        <p:nvSpPr>
          <p:cNvPr id="22" name="Text 19"/>
          <p:cNvSpPr/>
          <p:nvPr/>
        </p:nvSpPr>
        <p:spPr>
          <a:xfrm>
            <a:off x="1965960" y="4206240"/>
            <a:ext cx="9052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cartão é barato e fácil de cortar — permite testar dimensões, encaixes e o centro de massa do robô antes de gastar material definitivo. Só depois de validado o molde é que o desenho segue para o corte em MDF ou acrílico, evitando desperdício e retrabalho.</a:t>
            </a:r>
            <a:endParaRPr lang="en-US" sz="1250"/>
          </a:p>
        </p:txBody>
      </p:sp>
      <p:sp>
        <p:nvSpPr>
          <p:cNvPr id="23" name="Text 2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4 E 5 · 31/08–30/09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Aquisições e Montagem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0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Aquisições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93D"/>
                </a:solidFill>
              </a:rPr>
              <a:t>•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11430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de componentes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114300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preços e fornecedores, incluindo o servo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86868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93D"/>
                </a:solidFill>
              </a:rPr>
              <a:t>•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114300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114300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especial a Arduino, ponte H e sensores (reserva)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86868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93D"/>
                </a:solidFill>
              </a:rPr>
              <a:t>•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114300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e conferência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1143000" y="5257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de que tudo chegou e funciona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3F4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7960" y="1965960"/>
            <a:ext cx="777240" cy="77724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2152498"/>
            <a:ext cx="404165" cy="4041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9808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Fabricação e Montagem</a:t>
            </a:r>
            <a:endParaRPr lang="en-US" sz="1600"/>
          </a:p>
        </p:txBody>
      </p:sp>
      <p:sp>
        <p:nvSpPr>
          <p:cNvPr id="21" name="Text 17"/>
          <p:cNvSpPr/>
          <p:nvPr/>
        </p:nvSpPr>
        <p:spPr>
          <a:xfrm>
            <a:off x="653796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7C8C"/>
                </a:solidFill>
              </a:rPr>
              <a:t>•</a:t>
            </a:r>
            <a:endParaRPr lang="en-US" sz="1600"/>
          </a:p>
        </p:txBody>
      </p:sp>
      <p:sp>
        <p:nvSpPr>
          <p:cNvPr id="22" name="Text 18"/>
          <p:cNvSpPr/>
          <p:nvPr/>
        </p:nvSpPr>
        <p:spPr>
          <a:xfrm>
            <a:off x="681228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e montagem mecânica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681228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 cortado; motores e rodas fixados</a:t>
            </a:r>
            <a:endParaRPr lang="en-US" sz="1100"/>
          </a:p>
        </p:txBody>
      </p:sp>
      <p:sp>
        <p:nvSpPr>
          <p:cNvPr id="24" name="Text 20"/>
          <p:cNvSpPr/>
          <p:nvPr/>
        </p:nvSpPr>
        <p:spPr>
          <a:xfrm>
            <a:off x="653796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7C8C"/>
                </a:solidFill>
              </a:rPr>
              <a:t>•</a:t>
            </a:r>
            <a:endParaRPr lang="en-US" sz="1600"/>
          </a:p>
        </p:txBody>
      </p:sp>
      <p:sp>
        <p:nvSpPr>
          <p:cNvPr id="25" name="Text 21"/>
          <p:cNvSpPr/>
          <p:nvPr/>
        </p:nvSpPr>
        <p:spPr>
          <a:xfrm>
            <a:off x="68122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do servomotor</a:t>
            </a:r>
            <a:endParaRPr lang="en-US" sz="1300"/>
          </a:p>
        </p:txBody>
      </p:sp>
      <p:sp>
        <p:nvSpPr>
          <p:cNvPr id="26" name="Text 22"/>
          <p:cNvSpPr/>
          <p:nvPr/>
        </p:nvSpPr>
        <p:spPr>
          <a:xfrm>
            <a:off x="681228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Fixação do servo e do sensor giratório</a:t>
            </a:r>
            <a:endParaRPr lang="en-US" sz="1100"/>
          </a:p>
        </p:txBody>
      </p:sp>
      <p:sp>
        <p:nvSpPr>
          <p:cNvPr id="27" name="Text 23"/>
          <p:cNvSpPr/>
          <p:nvPr/>
        </p:nvSpPr>
        <p:spPr>
          <a:xfrm>
            <a:off x="653796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7C8C"/>
                </a:solidFill>
              </a:rPr>
              <a:t>•</a:t>
            </a:r>
            <a:endParaRPr lang="en-US" sz="1600"/>
          </a:p>
        </p:txBody>
      </p:sp>
      <p:sp>
        <p:nvSpPr>
          <p:cNvPr id="28" name="Text 24"/>
          <p:cNvSpPr/>
          <p:nvPr/>
        </p:nvSpPr>
        <p:spPr>
          <a:xfrm>
            <a:off x="681228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eletrônica</a:t>
            </a:r>
            <a:endParaRPr lang="en-US" sz="1300"/>
          </a:p>
        </p:txBody>
      </p:sp>
      <p:sp>
        <p:nvSpPr>
          <p:cNvPr id="29" name="Text 25"/>
          <p:cNvSpPr/>
          <p:nvPr/>
        </p:nvSpPr>
        <p:spPr>
          <a:xfrm>
            <a:off x="6812280" y="5257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Arduino, ponte H, sensores e bateria conectados</a:t>
            </a:r>
            <a:endParaRPr lang="en-US" sz="1100"/>
          </a:p>
        </p:txBody>
      </p:sp>
      <p:sp>
        <p:nvSpPr>
          <p:cNvPr id="30" name="Text 2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31" name="Text 27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01–13/10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Básica — Abordagem Incremental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Frente, trás, giro, parar</a:t>
            </a:r>
            <a:endParaRPr lang="en-US" sz="930"/>
          </a:p>
        </p:txBody>
      </p:sp>
      <p:sp>
        <p:nvSpPr>
          <p:cNvPr id="9" name="Text 7"/>
          <p:cNvSpPr/>
          <p:nvPr/>
        </p:nvSpPr>
        <p:spPr>
          <a:xfrm>
            <a:off x="213055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237744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291693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2" name="Text 10"/>
          <p:cNvSpPr/>
          <p:nvPr/>
        </p:nvSpPr>
        <p:spPr>
          <a:xfrm>
            <a:off x="291693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242316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242316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velocidade (0–255)</a:t>
            </a:r>
            <a:endParaRPr lang="en-US" sz="930"/>
          </a:p>
        </p:txBody>
      </p:sp>
      <p:sp>
        <p:nvSpPr>
          <p:cNvPr id="15" name="Text 13"/>
          <p:cNvSpPr/>
          <p:nvPr/>
        </p:nvSpPr>
        <p:spPr>
          <a:xfrm>
            <a:off x="400507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425196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79145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429768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429768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Ultrassônico e infravermelhos</a:t>
            </a:r>
            <a:endParaRPr lang="en-US" sz="930"/>
          </a:p>
        </p:txBody>
      </p:sp>
      <p:sp>
        <p:nvSpPr>
          <p:cNvPr id="21" name="Text 19"/>
          <p:cNvSpPr/>
          <p:nvPr/>
        </p:nvSpPr>
        <p:spPr>
          <a:xfrm>
            <a:off x="587959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612648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597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24" name="Text 22"/>
          <p:cNvSpPr/>
          <p:nvPr/>
        </p:nvSpPr>
        <p:spPr>
          <a:xfrm>
            <a:off x="666597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617220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617220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(opcional)</a:t>
            </a:r>
            <a:endParaRPr lang="en-US" sz="930"/>
          </a:p>
        </p:txBody>
      </p:sp>
      <p:sp>
        <p:nvSpPr>
          <p:cNvPr id="27" name="Text 25"/>
          <p:cNvSpPr/>
          <p:nvPr/>
        </p:nvSpPr>
        <p:spPr>
          <a:xfrm>
            <a:off x="775411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/>
          </a:p>
        </p:txBody>
      </p:sp>
      <p:sp>
        <p:nvSpPr>
          <p:cNvPr id="28" name="Shape 26"/>
          <p:cNvSpPr/>
          <p:nvPr/>
        </p:nvSpPr>
        <p:spPr>
          <a:xfrm>
            <a:off x="800100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29" name="Shape 27"/>
          <p:cNvSpPr/>
          <p:nvPr/>
        </p:nvSpPr>
        <p:spPr>
          <a:xfrm>
            <a:off x="854049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30" name="Text 28"/>
          <p:cNvSpPr/>
          <p:nvPr/>
        </p:nvSpPr>
        <p:spPr>
          <a:xfrm>
            <a:off x="854049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/>
          </a:p>
        </p:txBody>
      </p:sp>
      <p:sp>
        <p:nvSpPr>
          <p:cNvPr id="31" name="Text 29"/>
          <p:cNvSpPr/>
          <p:nvPr/>
        </p:nvSpPr>
        <p:spPr>
          <a:xfrm>
            <a:off x="804672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150"/>
          </a:p>
        </p:txBody>
      </p:sp>
      <p:sp>
        <p:nvSpPr>
          <p:cNvPr id="32" name="Text 30"/>
          <p:cNvSpPr/>
          <p:nvPr/>
        </p:nvSpPr>
        <p:spPr>
          <a:xfrm>
            <a:off x="804672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"se detectar, então..."</a:t>
            </a:r>
            <a:endParaRPr lang="en-US" sz="930"/>
          </a:p>
        </p:txBody>
      </p:sp>
      <p:sp>
        <p:nvSpPr>
          <p:cNvPr id="33" name="Text 31"/>
          <p:cNvSpPr/>
          <p:nvPr/>
        </p:nvSpPr>
        <p:spPr>
          <a:xfrm>
            <a:off x="9628632" y="2926080"/>
            <a:ext cx="24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/>
          </a:p>
        </p:txBody>
      </p:sp>
      <p:sp>
        <p:nvSpPr>
          <p:cNvPr id="34" name="Shape 32"/>
          <p:cNvSpPr/>
          <p:nvPr/>
        </p:nvSpPr>
        <p:spPr>
          <a:xfrm>
            <a:off x="9875520" y="2103120"/>
            <a:ext cx="1627632" cy="2377440"/>
          </a:xfrm>
          <a:prstGeom prst="roundRect">
            <a:avLst>
              <a:gd name="adj" fmla="val 5618"/>
            </a:avLst>
          </a:prstGeom>
          <a:solidFill>
            <a:srgbClr val="F0F4F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5016" y="2331720"/>
            <a:ext cx="548640" cy="548640"/>
          </a:xfrm>
          <a:prstGeom prst="ellipse">
            <a:avLst/>
          </a:prstGeom>
          <a:solidFill>
            <a:srgbClr val="1E7C8C"/>
          </a:solidFill>
          <a:ln/>
        </p:spPr>
      </p:sp>
      <p:sp>
        <p:nvSpPr>
          <p:cNvPr id="36" name="Text 34"/>
          <p:cNvSpPr/>
          <p:nvPr/>
        </p:nvSpPr>
        <p:spPr>
          <a:xfrm>
            <a:off x="1041501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/>
          </a:p>
        </p:txBody>
      </p:sp>
      <p:sp>
        <p:nvSpPr>
          <p:cNvPr id="37" name="Text 35"/>
          <p:cNvSpPr/>
          <p:nvPr/>
        </p:nvSpPr>
        <p:spPr>
          <a:xfrm>
            <a:off x="9921240" y="3017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1150"/>
          </a:p>
        </p:txBody>
      </p:sp>
      <p:sp>
        <p:nvSpPr>
          <p:cNvPr id="38" name="Text 36"/>
          <p:cNvSpPr/>
          <p:nvPr/>
        </p:nvSpPr>
        <p:spPr>
          <a:xfrm>
            <a:off x="9921240" y="352044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no ambiente real</a:t>
            </a:r>
            <a:endParaRPr lang="en-US" sz="930"/>
          </a:p>
        </p:txBody>
      </p:sp>
      <p:sp>
        <p:nvSpPr>
          <p:cNvPr id="39" name="Text 37"/>
          <p:cNvSpPr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em camadas — testando cada nível isoladamente — evita um único programa gigante e difícil de depurar.</a:t>
            </a:r>
            <a:endParaRPr lang="en-US" sz="1300"/>
          </a:p>
        </p:txBody>
      </p:sp>
      <p:sp>
        <p:nvSpPr>
          <p:cNvPr id="40" name="Text 3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 · 14–31/10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Navegação Autônoma — Lógica de Desvio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1C3A57"/>
          </a:solidFill>
          <a:ln w="3175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SEGUIR</a:t>
            </a:r>
            <a:endParaRPr lang="en-US" sz="1450"/>
          </a:p>
          <a:p>
            <a:pPr marL="0" indent="0" algn="ctr">
              <a:buNone/>
            </a:pPr>
            <a:r>
              <a:rPr lang="en-US" sz="1450" b="1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FRENTE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5212080" y="182880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1C3A57"/>
          </a:solidFill>
          <a:ln w="31750">
            <a:solidFill>
              <a:srgbClr val="1E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E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PARAR E</a:t>
            </a:r>
            <a:endParaRPr lang="en-US" sz="1450"/>
          </a:p>
          <a:p>
            <a:pPr marL="0" indent="0" algn="ctr">
              <a:buNone/>
            </a:pPr>
            <a:r>
              <a:rPr lang="en-US" sz="1450" b="1">
                <a:solidFill>
                  <a:srgbClr val="1E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RECUAR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5212080" y="38404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1C3A57"/>
          </a:solidFill>
          <a:ln w="31750">
            <a:solidFill>
              <a:srgbClr val="4C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38404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4C7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GIRAR PARA</a:t>
            </a:r>
            <a:endParaRPr lang="en-US" sz="1450"/>
          </a:p>
          <a:p>
            <a:pPr marL="0" indent="0" algn="ctr">
              <a:buNone/>
            </a:pPr>
            <a:r>
              <a:rPr lang="en-US" sz="1450" b="1">
                <a:solidFill>
                  <a:srgbClr val="4C7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LADO LIVRE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3291840" y="3246120"/>
            <a:ext cx="1920240" cy="0"/>
          </a:xfrm>
          <a:prstGeom prst="line">
            <a:avLst/>
          </a:prstGeom>
          <a:noFill/>
          <a:ln w="25400">
            <a:solidFill>
              <a:srgbClr val="1E7C8C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33756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 detectado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6400800" y="3017520"/>
            <a:ext cx="0" cy="822960"/>
          </a:xfrm>
          <a:prstGeom prst="line">
            <a:avLst/>
          </a:prstGeom>
          <a:noFill/>
          <a:ln w="25400">
            <a:solidFill>
              <a:srgbClr val="1E7C8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53796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livre</a:t>
            </a:r>
            <a:endParaRPr lang="en-US" sz="950"/>
          </a:p>
          <a:p>
            <a:pPr marL="0" indent="0">
              <a:buNone/>
            </a:pPr>
            <a:r>
              <a:rPr lang="en-US" sz="950" i="1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5212080" y="4526280"/>
            <a:ext cx="0" cy="0"/>
          </a:xfrm>
          <a:prstGeom prst="line">
            <a:avLst/>
          </a:prstGeom>
          <a:noFill/>
          <a:ln w="25400">
            <a:solidFill>
              <a:srgbClr val="4C7A9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103120" y="4160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trajeto livre — retoma o percurso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8138160" y="539496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1C3A57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5486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servomotor ativo, o sensor ultrassônico varre 3 posições antes de decidir; sem ele, os infravermelhos guiam a decisão.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 · 02–28/11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Orientados a Dados</a:t>
            </a:r>
            <a:endParaRPr lang="en-US" sz="30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675120" cy="2514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Ação de ajuste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Linha reta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9/10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Equalizar velocidade dos motores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Ultrassom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7/10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Ajustar limiar de distância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Desvio (IV)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6/10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Aproximar sensores da borda frontal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Percurso completo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7/10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222222"/>
                          </a:solidFill>
                        </a:rPr>
                        <a:t>Reduzir velocidade nas curvas</a:t>
                      </a:r>
                      <a:endParaRPr lang="en-US" sz="125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8308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EAF3F4"/>
          </a:solidFill>
          <a:ln/>
        </p:spPr>
      </p:sp>
      <p:sp>
        <p:nvSpPr>
          <p:cNvPr id="6" name="Shape 3"/>
          <p:cNvSpPr/>
          <p:nvPr/>
        </p:nvSpPr>
        <p:spPr>
          <a:xfrm>
            <a:off x="7818120" y="2011680"/>
            <a:ext cx="777240" cy="77724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58" y="219821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PDCA aplicado</a:t>
            </a:r>
            <a:endParaRPr lang="en-US" sz="1400"/>
          </a:p>
        </p:txBody>
      </p:sp>
      <p:sp>
        <p:nvSpPr>
          <p:cNvPr id="9" name="Text 5"/>
          <p:cNvSpPr/>
          <p:nvPr/>
        </p:nvSpPr>
        <p:spPr>
          <a:xfrm>
            <a:off x="7818120" y="27432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→ Observação → Coleta de dados → Identificação do problema → Alteração → Novo teste.</a:t>
            </a:r>
            <a:endParaRPr lang="en-US" sz="1200"/>
          </a:p>
        </p:txBody>
      </p:sp>
      <p:sp>
        <p:nvSpPr>
          <p:cNvPr id="10" name="Text 6"/>
          <p:cNvSpPr/>
          <p:nvPr/>
        </p:nvSpPr>
        <p:spPr>
          <a:xfrm>
            <a:off x="7818120" y="4114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teste gera um dado registrado — a equipe deixa de "soltar" o robô e passa a desenvolver com evidências.</a:t>
            </a:r>
            <a:endParaRPr lang="en-US" sz="1200"/>
          </a:p>
        </p:txBody>
      </p:sp>
      <p:sp>
        <p:nvSpPr>
          <p:cNvPr id="11" name="Text 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4" name="Text 8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 (DOCUMENTAÇÃO) E FASE 9 · ATÉ 28/11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Prévia da Competição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1520" cy="7315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1958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647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 de projeto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155448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completo do desenvolvimento — entregue até 28/11.</a:t>
            </a:r>
            <a:endParaRPr lang="en-US" sz="110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731520" cy="7315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301020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16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do projeto</a:t>
            </a:r>
            <a:endParaRPr lang="en-US" sz="140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visual da equipe — entregue até 28/11.</a:t>
            </a:r>
            <a:endParaRPr lang="en-US" sz="110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731520" cy="73152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406176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867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em PowerPoint</a:t>
            </a:r>
            <a:endParaRPr lang="en-US" sz="1400"/>
          </a:p>
        </p:txBody>
      </p:sp>
      <p:sp>
        <p:nvSpPr>
          <p:cNvPr id="15" name="Text 10"/>
          <p:cNvSpPr/>
          <p:nvPr/>
        </p:nvSpPr>
        <p:spPr>
          <a:xfrm>
            <a:off x="1554480" y="4206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a turma e a banca — entregue até 28/11.</a:t>
            </a:r>
            <a:endParaRPr lang="en-US" sz="1100"/>
          </a:p>
        </p:txBody>
      </p:sp>
      <p:sp>
        <p:nvSpPr>
          <p:cNvPr id="16" name="Shape 11"/>
          <p:cNvSpPr/>
          <p:nvPr/>
        </p:nvSpPr>
        <p:spPr>
          <a:xfrm>
            <a:off x="6492240" y="178308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C3A57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66560" y="201168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098" y="2198218"/>
            <a:ext cx="404165" cy="4041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Prévia da Competição</a:t>
            </a:r>
            <a:endParaRPr lang="en-US" sz="1700"/>
          </a:p>
        </p:txBody>
      </p:sp>
      <p:sp>
        <p:nvSpPr>
          <p:cNvPr id="20" name="Text 14"/>
          <p:cNvSpPr/>
          <p:nvPr/>
        </p:nvSpPr>
        <p:spPr>
          <a:xfrm>
            <a:off x="676656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 novembro de 2026</a:t>
            </a:r>
            <a:endParaRPr lang="en-US" sz="1300"/>
          </a:p>
        </p:txBody>
      </p:sp>
      <p:sp>
        <p:nvSpPr>
          <p:cNvPr id="21" name="Text 15"/>
          <p:cNvSpPr/>
          <p:nvPr/>
        </p:nvSpPr>
        <p:spPr>
          <a:xfrm>
            <a:off x="6766560" y="33832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Ensaio geral em condições próximas às da competição oficial, com o robô já operacional e toda a documentação entregue. Os resultados orientam os ajustes finais antes do dia 05/12.</a:t>
            </a:r>
            <a:endParaRPr lang="en-US" sz="1200"/>
          </a:p>
        </p:txBody>
      </p:sp>
      <p:sp>
        <p:nvSpPr>
          <p:cNvPr id="22" name="Text 16"/>
          <p:cNvSpPr/>
          <p:nvPr/>
        </p:nvSpPr>
        <p:spPr>
          <a:xfrm>
            <a:off x="6766560" y="5120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seguida: análise dos resultados (30/11–02/12) e checklist final (03–04/12).</a:t>
            </a:r>
            <a:endParaRPr lang="en-US" sz="1100"/>
          </a:p>
        </p:txBody>
      </p:sp>
      <p:sp>
        <p:nvSpPr>
          <p:cNvPr id="23" name="Text 1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24" name="Text 18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10 · 05/12/2026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Competição e Encerramento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371600" cy="137160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1579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da competição</a:t>
            </a:r>
            <a:endParaRPr lang="en-US" sz="1800"/>
          </a:p>
        </p:txBody>
      </p:sp>
      <p:sp>
        <p:nvSpPr>
          <p:cNvPr id="7" name="Text 4"/>
          <p:cNvSpPr/>
          <p:nvPr/>
        </p:nvSpPr>
        <p:spPr>
          <a:xfrm>
            <a:off x="2286000" y="24231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final (véspera) → Competição de Robôs Desviadores de Obstáculos → Lições aprendidas.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492240" y="187452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1801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 íntegro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9098280" y="187452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64040" y="1801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e rodas ok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>
          <a:xfrm>
            <a:off x="6492240" y="274320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6700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e ponte H ok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>
          <a:xfrm>
            <a:off x="9098280" y="274320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64040" y="26700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Pilhas carregadas</a:t>
            </a:r>
            <a:endParaRPr lang="en-US" sz="1050"/>
          </a:p>
        </p:txBody>
      </p:sp>
      <p:sp>
        <p:nvSpPr>
          <p:cNvPr id="16" name="Shape 13"/>
          <p:cNvSpPr/>
          <p:nvPr/>
        </p:nvSpPr>
        <p:spPr>
          <a:xfrm>
            <a:off x="6492240" y="361188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538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e servo ok</a:t>
            </a:r>
            <a:endParaRPr lang="en-US" sz="1050"/>
          </a:p>
        </p:txBody>
      </p:sp>
      <p:sp>
        <p:nvSpPr>
          <p:cNvPr id="18" name="Shape 15"/>
          <p:cNvSpPr/>
          <p:nvPr/>
        </p:nvSpPr>
        <p:spPr>
          <a:xfrm>
            <a:off x="9098280" y="361188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64040" y="3538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realizada</a:t>
            </a:r>
            <a:endParaRPr lang="en-US" sz="1050"/>
          </a:p>
        </p:txBody>
      </p:sp>
      <p:sp>
        <p:nvSpPr>
          <p:cNvPr id="20" name="Shape 17"/>
          <p:cNvSpPr/>
          <p:nvPr/>
        </p:nvSpPr>
        <p:spPr>
          <a:xfrm>
            <a:off x="6492240" y="448056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4407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final salvo</a:t>
            </a:r>
            <a:endParaRPr lang="en-US" sz="1050"/>
          </a:p>
        </p:txBody>
      </p:sp>
      <p:sp>
        <p:nvSpPr>
          <p:cNvPr id="22" name="Shape 19"/>
          <p:cNvSpPr/>
          <p:nvPr/>
        </p:nvSpPr>
        <p:spPr>
          <a:xfrm>
            <a:off x="9098280" y="4480560"/>
            <a:ext cx="256032" cy="256032"/>
          </a:xfrm>
          <a:prstGeom prst="roundRect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64040" y="4407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aprovado na inspeção</a:t>
            </a:r>
            <a:endParaRPr lang="en-US" sz="1050"/>
          </a:p>
        </p:txBody>
      </p:sp>
      <p:sp>
        <p:nvSpPr>
          <p:cNvPr id="24" name="Text 2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25" name="Text 22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PROJETO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Entregas Parciais e Gestão de Riscos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0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entregas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28/08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1783080" y="2423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BOM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28/08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1783080" y="2953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em papel cartão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822960" y="348386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05/09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1783080" y="34838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final do chassi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822960" y="40142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13/10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1783080" y="40142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e servomotor calibrados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822960" y="45445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23/10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1783080" y="4544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hardware+software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28/11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1783080" y="5074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Caderno, banner, apresentação e prévia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BEFEC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críticos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64922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23A2E"/>
                </a:solidFill>
              </a:rPr>
              <a:t>⚠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858000" y="2377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falsas do ultrassônico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858000" y="2697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por média; calibração cuidadosa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492240" y="3264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23A2E"/>
                </a:solidFill>
              </a:rPr>
              <a:t>⚠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858000" y="32186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 com jitter (tremor)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858000" y="35387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isolado; biblioteca Servo.h padrão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6492240" y="4105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23A2E"/>
                </a:solidFill>
              </a:rPr>
              <a:t>⚠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858000" y="40599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travando durante o percurso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858000" y="43799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estados; testar por partes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6492240" y="4946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23A2E"/>
                </a:solidFill>
              </a:rPr>
              <a:t>⚠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6858000" y="490118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 mal dimensionado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858000" y="52212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molde de papel cartão antes de cortar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— Projeto de Robótica Educacional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C3A57"/>
          </a:solidFill>
          <a:ln/>
        </p:spPr>
      </p:sp>
      <p:sp>
        <p:nvSpPr>
          <p:cNvPr id="3" name="Shape 1"/>
          <p:cNvSpPr/>
          <p:nvPr/>
        </p:nvSpPr>
        <p:spPr>
          <a:xfrm>
            <a:off x="5408676" y="1463040"/>
            <a:ext cx="1371600" cy="1371600"/>
          </a:xfrm>
          <a:prstGeom prst="ellipse">
            <a:avLst/>
          </a:prstGeom>
          <a:solidFill>
            <a:srgbClr val="1E7C8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179222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Mãos à obra!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percurso: engenharia, programação e trabalho em equipe rumo à competição de 05/12/2026.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1371600" y="60350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Desviador de Obstáculos com Arduino  •  Robótica Educacional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3</cp:revision>
  <dcterms:created xsi:type="dcterms:W3CDTF">2026-08-15T02:55:41Z</dcterms:created>
  <dcterms:modified xsi:type="dcterms:W3CDTF">2026-08-22T14:24:54Z</dcterms:modified>
</cp:coreProperties>
</file>